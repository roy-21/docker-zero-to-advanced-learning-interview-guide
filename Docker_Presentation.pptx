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82296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76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5BA8F5"/>
                </a:solidFill>
                <a:latin typeface="Calibri"/>
              </a:rPr>
              <a:t>What is Docker  •  Why Docker  •  How Docker works  •  Docker vs VM  •  Containers  •  Images  •  Lifecycle  •  Isolation  •  Benefits &amp; Limitations  •  Virtualization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0056" y="4206240"/>
            <a:ext cx="457200" cy="45720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86984" y="4206240"/>
            <a:ext cx="457200" cy="45720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3912" y="4206240"/>
            <a:ext cx="457200" cy="45720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4206240"/>
            <a:ext cx="457200" cy="45720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0056" y="4736592"/>
            <a:ext cx="2157984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1 — What is Docker?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0996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12B36"/>
                </a:solidFill>
                <a:latin typeface="Calibri"/>
              </a:rPr>
              <a:t>Docker is an open-source containerization platform that packages an application along with its dependencies, libraries, and configuration into a lightweight container. This allows the application to run consistently across different environments and solves the 'it works on my machine'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2434590" cy="91440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6382" y="3438144"/>
            <a:ext cx="310896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40430" y="3108960"/>
            <a:ext cx="2434590" cy="91440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Package App + Dependencies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8172" y="3438144"/>
            <a:ext cx="310896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2220" y="3108960"/>
            <a:ext cx="2434590" cy="9144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Container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9962" y="3438144"/>
            <a:ext cx="310896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24010" y="3108960"/>
            <a:ext cx="2434590" cy="914400"/>
          </a:xfrm>
          <a:prstGeom prst="roundRect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Consistent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2 — Why do we use Docker?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099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12B36"/>
                </a:solidFill>
                <a:latin typeface="Calibri"/>
              </a:rPr>
              <a:t>We use Docker to ensure consistency across different environments. It packages an application along with its dependencies and configurations into a lightweight container, so it runs consistently in development, testing, and production. It also provides isolation, portability, and faster deployment.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2880360"/>
            <a:ext cx="3063240" cy="777240"/>
          </a:xfrm>
          <a:prstGeom prst="chevron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Consistency</a:t>
            </a:r>
          </a:p>
        </p:txBody>
      </p:sp>
      <p:sp>
        <p:nvSpPr>
          <p:cNvPr id="6" name="Chevron 5"/>
          <p:cNvSpPr/>
          <p:nvPr/>
        </p:nvSpPr>
        <p:spPr>
          <a:xfrm>
            <a:off x="3310128" y="2880360"/>
            <a:ext cx="3063240" cy="777240"/>
          </a:xfrm>
          <a:prstGeom prst="chevron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Isolation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6071616" y="2880360"/>
            <a:ext cx="3063240" cy="777240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Lightweight</a:t>
            </a:r>
          </a:p>
        </p:txBody>
      </p:sp>
      <p:sp>
        <p:nvSpPr>
          <p:cNvPr id="8" name="Chevron 7"/>
          <p:cNvSpPr/>
          <p:nvPr/>
        </p:nvSpPr>
        <p:spPr>
          <a:xfrm>
            <a:off x="8833104" y="2880360"/>
            <a:ext cx="3063240" cy="777240"/>
          </a:xfrm>
          <a:prstGeom prst="chevron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Portability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11109960" cy="201168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600" b="1">
                <a:solidFill>
                  <a:srgbClr val="0B214A"/>
                </a:solidFill>
                <a:latin typeface="Calibri"/>
              </a:rPr>
              <a:t>If interviewer says: "Explain a little more"  →  I will answer: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212B36"/>
                </a:solidFill>
                <a:latin typeface="Calibri"/>
              </a:rPr>
              <a:t>"Docker solves the 'it works on my machine' problem because the same container can run across different environments without dependency or configuration conflicts."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3 — How does Docker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099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12B36"/>
                </a:solidFill>
                <a:latin typeface="Calibri"/>
              </a:rPr>
              <a:t>Docker works by using a containerization approach. First, we define the application and its dependencies in a Dockerfile. Docker uses the Dockerfile to build a Docker Image, which is a read-only blueprint of the application. When we run the image, Docker creates a Docker Container, which is the running instance of that application. The Docker Client communicates with the Docker Daemon, which manages the containers.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200400" cy="11887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Dockerfile</a:t>
            </a:r>
          </a:p>
          <a:p>
            <a:pPr algn="ctr">
              <a:spcBef>
                <a:spcPts val="300"/>
              </a:spcBef>
            </a:pPr>
            <a:r>
              <a:rPr sz="1400" b="1" i="0">
                <a:solidFill>
                  <a:srgbClr val="5BA8F5"/>
                </a:solidFill>
                <a:latin typeface="Calibri"/>
              </a:rPr>
              <a:t>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468880"/>
            <a:ext cx="3200400" cy="118872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Docker Image</a:t>
            </a:r>
          </a:p>
          <a:p>
            <a:pPr algn="ctr">
              <a:spcBef>
                <a:spcPts val="300"/>
              </a:spcBef>
            </a:pPr>
            <a:r>
              <a:rPr sz="1400" b="1" i="0">
                <a:solidFill>
                  <a:srgbClr val="E8F1FF"/>
                </a:solidFill>
                <a:latin typeface="Calibr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468880"/>
            <a:ext cx="3200400" cy="11887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Docker Container</a:t>
            </a:r>
          </a:p>
          <a:p>
            <a:pPr algn="ctr">
              <a:spcBef>
                <a:spcPts val="3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Running Application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2926080"/>
            <a:ext cx="548640" cy="274320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772400" y="2926080"/>
            <a:ext cx="548640" cy="274320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3840480"/>
            <a:ext cx="2651760" cy="502920"/>
          </a:xfrm>
          <a:prstGeom prst="roundRect">
            <a:avLst/>
          </a:prstGeom>
          <a:solidFill>
            <a:srgbClr val="5B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B214A"/>
                </a:solidFill>
                <a:latin typeface="Calibri"/>
              </a:rPr>
              <a:t>Docker Client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3959352"/>
            <a:ext cx="365760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3840480"/>
            <a:ext cx="2651760" cy="50292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Docker Daemon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79" y="3959352"/>
            <a:ext cx="365760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3840480"/>
            <a:ext cx="2651760" cy="5029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Manages Containers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109960" cy="178308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600" b="1">
                <a:solidFill>
                  <a:srgbClr val="0B214A"/>
                </a:solidFill>
                <a:latin typeface="Calibri"/>
              </a:rPr>
              <a:t>If interviewer asks: "Why is Docker lightweight?"  →  I will answer: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212B36"/>
                </a:solidFill>
                <a:latin typeface="Calibri"/>
              </a:rPr>
              <a:t>"Unlike a traditional VM, Docker containers share the host OS kernel instead of running a complete guest operating system. That's why containers are lightweight and start much faster."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D93025"/>
                </a:solidFill>
                <a:latin typeface="Calibri"/>
              </a:rPr>
              <a:t>4 — Docker vs Virtual Machines? Which is a Better Choice?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2B36"/>
                </a:solidFill>
                <a:latin typeface="Calibri"/>
              </a:rPr>
              <a:t>Neither is universally better; it depends on the use case. For most modern application development and deployment, I would prefer Docker because containers are lightweight, start quickly, use fewer resources, and provide good portability. However, if I need a complete operating system, stronger isolation, or to run different operating systems on the same physical machine, I would choose a Virtual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394960" cy="50292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Docker  → 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5394960" cy="178308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0">
                <a:solidFill>
                  <a:srgbClr val="212B36"/>
                </a:solidFill>
                <a:latin typeface="Calibri"/>
              </a:rPr>
              <a:t>•  Lightweight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Fast startup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Less resource usage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Easy deployment &amp;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68880"/>
            <a:ext cx="5394960" cy="5029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VM  →  Complete Operating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71800"/>
            <a:ext cx="5394960" cy="178308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0">
                <a:solidFill>
                  <a:srgbClr val="212B36"/>
                </a:solidFill>
                <a:latin typeface="Calibri"/>
              </a:rPr>
              <a:t>•  Stronger isolation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Full OS environment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More resource-intensive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•  Useful for different OS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1109960" cy="1051560"/>
          </a:xfrm>
          <a:prstGeom prst="roundRect">
            <a:avLst/>
          </a:prstGeom>
          <a:solidFill>
            <a:srgbClr val="FFC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0B214A"/>
                </a:solidFill>
                <a:latin typeface="Calibri"/>
              </a:rPr>
              <a:t>Golden line:   "Docker is better for application portability and efficiency; VMs are better when you need full OS-level isolation and flexibility."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4 — Docker vs VM  →  Interview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109960" cy="173736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600" b="1">
                <a:solidFill>
                  <a:srgbClr val="0B214A"/>
                </a:solidFill>
                <a:latin typeface="Calibri"/>
              </a:rPr>
              <a:t>If interviewer asks: "So, which one would you choose?"  →  I will answer: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212B36"/>
                </a:solidFill>
                <a:latin typeface="Calibri"/>
              </a:rPr>
              <a:t>"For deploying a typical web application or microservice, I would choose Docker. For running a completely separate operating system or when stronger isolation is required, I would choose a VM."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4206240" cy="82296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0B214A"/>
                </a:solidFill>
                <a:latin typeface="Calibri"/>
              </a:rPr>
              <a:t>Typical web application / microservice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3465576"/>
            <a:ext cx="457200" cy="274320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3200400"/>
            <a:ext cx="3108960" cy="82296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4206240" cy="82296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12B36"/>
                </a:solidFill>
                <a:latin typeface="Calibri"/>
              </a:rPr>
              <a:t>Separate OS / stronger isolation needed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4745736"/>
            <a:ext cx="457200" cy="274320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4480560"/>
            <a:ext cx="310896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Virtual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D93025"/>
                </a:solidFill>
                <a:latin typeface="Calibri"/>
              </a:rPr>
              <a:t>Figure — Virtual Machine vs 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212B36"/>
                </a:solidFill>
                <a:latin typeface="Calibri"/>
              </a:rPr>
              <a:t>Virtual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91440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212B36"/>
                </a:solidFill>
                <a:latin typeface="Calibri"/>
              </a:rPr>
              <a:t>Docker Containerization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325880"/>
            <a:ext cx="2011680" cy="384048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VM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709928"/>
            <a:ext cx="2011680" cy="384048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APP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093976"/>
            <a:ext cx="2011680" cy="384048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478024"/>
            <a:ext cx="2011680" cy="71323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Guest Operating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011680" cy="384048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VM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09928"/>
            <a:ext cx="2011680" cy="384048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APP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93976"/>
            <a:ext cx="2011680" cy="384048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78024"/>
            <a:ext cx="2011680" cy="71323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Guest Operating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29000"/>
            <a:ext cx="4983480" cy="457200"/>
          </a:xfrm>
          <a:prstGeom prst="rect">
            <a:avLst/>
          </a:prstGeom>
          <a:solidFill>
            <a:srgbClr val="5B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B214A"/>
                </a:solidFill>
                <a:latin typeface="Calibri"/>
              </a:rPr>
              <a:t>Hypervisor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77639"/>
            <a:ext cx="4983480" cy="4572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Infrastructure (Physical Server)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325880"/>
            <a:ext cx="1207008" cy="36576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212B36"/>
                </a:solidFill>
                <a:latin typeface="Calibri"/>
              </a:rPr>
              <a:t>Container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9164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APP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10312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99248" y="1325880"/>
            <a:ext cx="1207008" cy="36576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212B36"/>
                </a:solidFill>
                <a:latin typeface="Calibri"/>
              </a:rPr>
              <a:t>Container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169164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APP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9248" y="210312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3416" y="1325880"/>
            <a:ext cx="1207008" cy="36576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212B36"/>
                </a:solidFill>
                <a:latin typeface="Calibri"/>
              </a:rPr>
              <a:t>Container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69164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APP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3416" y="210312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87584" y="1325880"/>
            <a:ext cx="1207008" cy="36576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212B36"/>
                </a:solidFill>
                <a:latin typeface="Calibri"/>
              </a:rPr>
              <a:t>Container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87584" y="169164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APP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87584" y="2103120"/>
            <a:ext cx="1207008" cy="4114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743200"/>
            <a:ext cx="5394960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Docker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291840"/>
            <a:ext cx="5394960" cy="457200"/>
          </a:xfrm>
          <a:prstGeom prst="rect">
            <a:avLst/>
          </a:prstGeom>
          <a:solidFill>
            <a:srgbClr val="5B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B214A"/>
                </a:solidFill>
                <a:latin typeface="Calibri"/>
              </a:rPr>
              <a:t>Host Operating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40480"/>
            <a:ext cx="5394960" cy="4572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Infrastructure (Physical Server)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9160"/>
            <a:ext cx="53949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12B36"/>
                </a:solidFill>
                <a:latin typeface="Calibri"/>
              </a:rPr>
              <a:t>A VM virtualizes the hardware itself — every VM carries its own complete, independent operating system (more resource-intensive).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709160"/>
            <a:ext cx="53949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212B36"/>
                </a:solidFill>
                <a:latin typeface="Calibri"/>
              </a:rPr>
              <a:t>Containers share the host machine's OS kernel through the Docker Engine — lightweight, fast to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5 — What is a Container? How Container 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10996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212B36"/>
                </a:solidFill>
                <a:latin typeface="Calibri"/>
              </a:rPr>
              <a:t>A container is a lightweight and isolated environment that packages an application with all its required dependencies, so it can run consistently across different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286000"/>
            <a:ext cx="7406640" cy="7315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Container  =  Application  +  Dependencies  + 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74EA6"/>
                </a:solidFill>
                <a:latin typeface="Calibri"/>
              </a:rPr>
              <a:t>Docker — A Docker container is a running instance of a Docker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1109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Easy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389120"/>
            <a:ext cx="3291840" cy="82296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Image  =  Blueprint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4654296"/>
            <a:ext cx="502920" cy="274320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384048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Container  =  Running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D93025"/>
                </a:solidFill>
                <a:latin typeface="Calibri"/>
              </a:rPr>
              <a:t>Container on the machine  +  The Shipping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6112"/>
            <a:ext cx="4023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74EA6"/>
                </a:solidFill>
                <a:latin typeface="Calibri"/>
              </a:rPr>
              <a:t>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023360" cy="141732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417320"/>
            <a:ext cx="3291840" cy="41148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874519"/>
            <a:ext cx="3291840" cy="41148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12B36"/>
                </a:solidFill>
                <a:latin typeface="Calibri"/>
              </a:rPr>
              <a:t>Bin/Lib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4023360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Docker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37560"/>
            <a:ext cx="4023360" cy="457200"/>
          </a:xfrm>
          <a:prstGeom prst="rect">
            <a:avLst/>
          </a:prstGeom>
          <a:solidFill>
            <a:srgbClr val="5B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0B214A"/>
                </a:solidFill>
                <a:latin typeface="Calibri"/>
              </a:rPr>
              <a:t>Host Operating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86200"/>
            <a:ext cx="4023360" cy="4572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234440"/>
            <a:ext cx="5943600" cy="310896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The Shipping Analogy</a:t>
            </a:r>
          </a:p>
          <a:p>
            <a:pPr algn="ctr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shipping container holds goods in a standard box. Any ship, truck, or crane can move it — no one cares what's inside. Software containers work the same way: a standard box for code that any server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109960" cy="146304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600" b="1">
                <a:solidFill>
                  <a:srgbClr val="0B214A"/>
                </a:solidFill>
                <a:latin typeface="Calibri"/>
              </a:rPr>
              <a:t>Short answer:  A container is a lightweight, isolated environment used to run an application with all its dependencies.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212B36"/>
                </a:solidFill>
                <a:latin typeface="Calibri"/>
              </a:rPr>
              <a:t>"Build once, run anywhere."  —  The defining promise of container technology.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Container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12B36"/>
                </a:solidFill>
                <a:latin typeface="Calibri"/>
              </a:rPr>
              <a:t>Containers don't virtualize hardware — they share the host machine's OS kernel while staying isolated from each other. This makes them fast to start and light on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09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1">
                <a:solidFill>
                  <a:srgbClr val="212B36"/>
                </a:solidFill>
                <a:latin typeface="Calibri"/>
              </a:rPr>
              <a:t>Isolated 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4408" y="2240280"/>
            <a:ext cx="1737360" cy="6858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A</a:t>
            </a:r>
          </a:p>
        </p:txBody>
      </p:sp>
      <p:sp>
        <p:nvSpPr>
          <p:cNvPr id="7" name="Down Arrow 6"/>
          <p:cNvSpPr/>
          <p:nvPr/>
        </p:nvSpPr>
        <p:spPr>
          <a:xfrm>
            <a:off x="3995928" y="3017520"/>
            <a:ext cx="274320" cy="320040"/>
          </a:xfrm>
          <a:prstGeom prst="down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76088" y="2240280"/>
            <a:ext cx="1737360" cy="6858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B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7607" y="3017520"/>
            <a:ext cx="274320" cy="320040"/>
          </a:xfrm>
          <a:prstGeom prst="down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7768" y="2240280"/>
            <a:ext cx="1737360" cy="6858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019288" y="3017520"/>
            <a:ext cx="274320" cy="320040"/>
          </a:xfrm>
          <a:prstGeom prst="down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3474720"/>
            <a:ext cx="7772400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Container Engine  (e.g. Docker)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4160520"/>
            <a:ext cx="7772400" cy="548640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Host Operating System (Kernel)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846320"/>
            <a:ext cx="7772400" cy="548640"/>
          </a:xfrm>
          <a:prstGeom prst="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Infrastructure /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Containers vs.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12B36"/>
                </a:solidFill>
                <a:latin typeface="Calibri"/>
              </a:rPr>
              <a:t>These terms get mixed up constantly. An application is the software itself; a container is the packaging that runs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0B214A"/>
                </a:solidFill>
                <a:latin typeface="Calibri"/>
              </a:rPr>
              <a:t>Application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212B36"/>
                </a:solidFill>
                <a:latin typeface="Calibri"/>
              </a:rPr>
              <a:t>•  The actual program or code you write (e.g. a Django website)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212B36"/>
                </a:solidFill>
                <a:latin typeface="Calibri"/>
              </a:rPr>
              <a:t>•  Defines business logic and features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212B36"/>
                </a:solidFill>
                <a:latin typeface="Calibri"/>
              </a:rPr>
              <a:t>•  Needs a runtime, libraries, and OS to function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212B36"/>
                </a:solidFill>
                <a:latin typeface="Calibri"/>
              </a:rPr>
              <a:t>•  Can run directly on a machine — or inside a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20640" cy="420624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Container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The isolated environment that runs the application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Bundles the app with its dependencies &amp; config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Ensures consistent behavior across machines</a:t>
            </a:r>
          </a:p>
          <a:p>
            <a:pPr algn="l">
              <a:spcBef>
                <a:spcPts val="80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•  One container can run one or more processes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6 — What is a Docker Image?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1099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212B36"/>
                </a:solidFill>
                <a:latin typeface="Calibri"/>
              </a:rPr>
              <a:t>A Docker Image is a read-only template that contains an application's code, runtime, libraries, dependencies, and configuration needed to run the application. A Docker Container is created from this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3383280" cy="128016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Dockerfile</a:t>
            </a:r>
          </a:p>
          <a:p>
            <a:pPr algn="ctr">
              <a:spcBef>
                <a:spcPts val="300"/>
              </a:spcBef>
            </a:pPr>
            <a:r>
              <a:rPr sz="1300" b="1" i="0">
                <a:solidFill>
                  <a:srgbClr val="5BA8F5"/>
                </a:solidFill>
                <a:latin typeface="Calibri"/>
              </a:rPr>
              <a:t>text file with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14600"/>
            <a:ext cx="3383280" cy="128016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Docker Image</a:t>
            </a:r>
          </a:p>
          <a:p>
            <a:pPr algn="ctr">
              <a:spcBef>
                <a:spcPts val="300"/>
              </a:spcBef>
            </a:pPr>
            <a:r>
              <a:rPr sz="1300" b="1" i="0">
                <a:solidFill>
                  <a:srgbClr val="E8F1FF"/>
                </a:solidFill>
                <a:latin typeface="Calibri"/>
              </a:rPr>
              <a:t>application's blueprint /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514600"/>
            <a:ext cx="3383280" cy="12801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Docker Container</a:t>
            </a:r>
          </a:p>
          <a:p>
            <a:pPr algn="ctr">
              <a:spcBef>
                <a:spcPts val="3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image's running instance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5072" y="3017520"/>
            <a:ext cx="320040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45552" y="3017520"/>
            <a:ext cx="320040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45920" y="4480560"/>
            <a:ext cx="8869680" cy="91440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0B214A"/>
                </a:solidFill>
                <a:latin typeface="Calibri"/>
              </a:rPr>
              <a:t>One-line answer:   A Docker Image is a read-only blueprint used to create Docker Containers.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7 — Docker container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12B36"/>
                </a:solidFill>
                <a:latin typeface="Calibri"/>
              </a:rPr>
              <a:t>Every container moves through a predictable set of states from creation to removal.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057400" cy="173736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Created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Container is set up but not running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8" y="2468880"/>
            <a:ext cx="164592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737360"/>
            <a:ext cx="2057400" cy="1737360"/>
          </a:xfrm>
          <a:prstGeom prst="roundRect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Running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Process is active and executing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2896" y="2468880"/>
            <a:ext cx="164592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737360"/>
            <a:ext cx="2057400" cy="17373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Paused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Execution frozen, state retained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41464" y="2468880"/>
            <a:ext cx="164592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737360"/>
            <a:ext cx="2057400" cy="1737360"/>
          </a:xfrm>
          <a:prstGeom prst="round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Stopped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Process ended, filesystem remains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00032" y="2468880"/>
            <a:ext cx="164592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737360"/>
            <a:ext cx="2057400" cy="173736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Removed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Container deleted from the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977639"/>
            <a:ext cx="9784080" cy="68580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0">
                <a:solidFill>
                  <a:srgbClr val="0B214A"/>
                </a:solidFill>
                <a:latin typeface="Consolas"/>
              </a:rPr>
              <a:t>docker create   →   docker start   →   docker pause / stop   →   docker 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Lifecycle — State Transition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2194560" cy="91440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Created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2560320"/>
            <a:ext cx="2194560" cy="914400"/>
          </a:xfrm>
          <a:prstGeom prst="roundRect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560320"/>
            <a:ext cx="2194560" cy="9144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4709160"/>
            <a:ext cx="2194560" cy="914400"/>
          </a:xfrm>
          <a:prstGeom prst="round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Stopped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889504"/>
            <a:ext cx="1600200" cy="256032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87168"/>
            <a:ext cx="1828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B214A"/>
                </a:solidFill>
                <a:latin typeface="Calibri"/>
              </a:rPr>
              <a:t>docker start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60920" y="2514600"/>
            <a:ext cx="1600200" cy="237744"/>
          </a:xfrm>
          <a:prstGeom prst="righ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121408"/>
            <a:ext cx="1737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B214A"/>
                </a:solidFill>
                <a:latin typeface="Calibri"/>
              </a:rPr>
              <a:t>docker pause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7360920" y="3291840"/>
            <a:ext cx="1600200" cy="237744"/>
          </a:xfrm>
          <a:prstGeom prst="left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611880"/>
            <a:ext cx="1828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B214A"/>
                </a:solidFill>
                <a:latin typeface="Calibri"/>
              </a:rPr>
              <a:t>docker unpause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23560" y="3657600"/>
            <a:ext cx="274320" cy="868680"/>
          </a:xfrm>
          <a:prstGeom prst="down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3913632"/>
            <a:ext cx="1554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1" i="0">
                <a:solidFill>
                  <a:srgbClr val="0B214A"/>
                </a:solidFill>
                <a:latin typeface="Calibri"/>
              </a:rPr>
              <a:t>docker stop</a:t>
            </a:r>
          </a:p>
        </p:txBody>
      </p:sp>
      <p:sp>
        <p:nvSpPr>
          <p:cNvPr id="16" name="Up Arrow 15"/>
          <p:cNvSpPr/>
          <p:nvPr/>
        </p:nvSpPr>
        <p:spPr>
          <a:xfrm>
            <a:off x="6263640" y="3657600"/>
            <a:ext cx="274320" cy="868680"/>
          </a:xfrm>
          <a:prstGeom prst="upArrow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13632"/>
            <a:ext cx="1554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B214A"/>
                </a:solidFill>
                <a:latin typeface="Calibri"/>
              </a:rPr>
              <a:t>docker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8 — Container isolation?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12B36"/>
                </a:solidFill>
                <a:latin typeface="Calibri"/>
              </a:rPr>
              <a:t>Isolation is what makes containers safe to run side-by-side. Each container gets its own view of the system, powered by Linux kernel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59436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Namespaces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Isolate what a container can see — its own processes, network, hostname, and file mounts.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520440" cy="59436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Control Groups (cgroups)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42316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Limit and meter how much CPU, memory, and I/O a container is allowed to consume.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520440" cy="59436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Filesystem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Each container has its own writable layer — changes never leak into other containers.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9 — Benefits of containers?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520440" cy="502920"/>
          </a:xfrm>
          <a:prstGeom prst="roundRect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Fast Startup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A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Boot in seconds, not minutes — no full OS to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50292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Lightweight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Share the host kernel, using far less resources than a VM.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520440" cy="5029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Runs identically on a laptop, server, or the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3520440" cy="50292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Consistent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"Works on my machine" problems disappear.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520440"/>
            <a:ext cx="3520440" cy="5029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Scalable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Spin up dozens of identical containers on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520440"/>
            <a:ext cx="3520440" cy="5029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Isolated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023360"/>
            <a:ext cx="3520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Apps don't interfere with each other on the host.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10 — Limitations of Containers?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09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0" i="0">
                <a:solidFill>
                  <a:srgbClr val="212B36"/>
                </a:solidFill>
                <a:latin typeface="Calibri"/>
              </a:rPr>
              <a:t>Containers solve many problems — but they are not a universal answer. Understanding the limits matters just as much as the benefits.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50292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Shared Kernel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All containers on a host share one OS kernel — a kernel-level exploit can affect every container.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50292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 Full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3949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Weaker security boundary than a virtual machine; not ideal for running fully untrusted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5394960" cy="50292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Persistent Data Needs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3949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Containers are ephemeral by default — data must be deliberately stored in volumes.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03320"/>
            <a:ext cx="5394960" cy="50292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Windows/Linux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206240"/>
            <a:ext cx="53949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350" b="0">
                <a:solidFill>
                  <a:srgbClr val="212B36"/>
                </a:solidFill>
                <a:latin typeface="Calibri"/>
              </a:rPr>
              <a:t>A Linux container needs a Linux kernel; cross-OS containers require extra tooling.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11 — 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18872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A container packages an app with everything it needs to run.</a:t>
            </a:r>
          </a:p>
        </p:txBody>
      </p:sp>
      <p:sp>
        <p:nvSpPr>
          <p:cNvPr id="6" name="Oval 5"/>
          <p:cNvSpPr/>
          <p:nvPr/>
        </p:nvSpPr>
        <p:spPr>
          <a:xfrm>
            <a:off x="6263640" y="1508760"/>
            <a:ext cx="731520" cy="731520"/>
          </a:xfrm>
          <a:prstGeom prst="ellipse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59" y="118872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Containers share the host OS kernel — lighter and faster than VMs.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004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88036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An application is the code; a container is how it's packaged &amp; run.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3200400"/>
            <a:ext cx="731520" cy="731520"/>
          </a:xfrm>
          <a:prstGeom prst="ellipse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59" y="288036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Every container moves through: created → running → stopped → removed.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57200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Namespaces &amp; cgroups give containers strong (not perfect) isolation.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4892040"/>
            <a:ext cx="731520" cy="731520"/>
          </a:xfrm>
          <a:prstGeom prst="ellipse">
            <a:avLst/>
          </a:prstGeom>
          <a:solidFill>
            <a:srgbClr val="18A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59" y="4572000"/>
            <a:ext cx="46634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A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50" b="0">
                <a:solidFill>
                  <a:srgbClr val="212B36"/>
                </a:solidFill>
                <a:latin typeface="Calibri"/>
              </a:rPr>
              <a:t>Fast, portable, and consistent — but not a full security sandbox.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What Is Virtualization?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099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12B36"/>
                </a:solidFill>
                <a:latin typeface="Calibri"/>
              </a:rPr>
              <a:t>Virtualization is the technology that lets one physical machine act like many. A software layer called a hypervisor divides real hardware — CPU, memory, storage — into multiple independent, isolated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1099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0B214A"/>
                </a:solidFill>
                <a:latin typeface="Calibri"/>
              </a:rPr>
              <a:t>One machine, many worlds.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The core idea behind every VM, cloud instance, and container.</a:t>
            </a:r>
          </a:p>
        </p:txBody>
      </p:sp>
      <p:sp>
        <p:nvSpPr>
          <p:cNvPr id="6" name="Chevron 5"/>
          <p:cNvSpPr/>
          <p:nvPr/>
        </p:nvSpPr>
        <p:spPr>
          <a:xfrm>
            <a:off x="822960" y="2880360"/>
            <a:ext cx="3977639" cy="731520"/>
          </a:xfrm>
          <a:prstGeom prst="chevron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One Physical Machine</a:t>
            </a:r>
          </a:p>
        </p:txBody>
      </p:sp>
      <p:sp>
        <p:nvSpPr>
          <p:cNvPr id="7" name="Chevron 6"/>
          <p:cNvSpPr/>
          <p:nvPr/>
        </p:nvSpPr>
        <p:spPr>
          <a:xfrm>
            <a:off x="4480560" y="2880360"/>
            <a:ext cx="3977639" cy="731520"/>
          </a:xfrm>
          <a:prstGeom prst="chevron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Hypervisor</a:t>
            </a:r>
          </a:p>
        </p:txBody>
      </p:sp>
      <p:sp>
        <p:nvSpPr>
          <p:cNvPr id="8" name="Chevron 7"/>
          <p:cNvSpPr/>
          <p:nvPr/>
        </p:nvSpPr>
        <p:spPr>
          <a:xfrm>
            <a:off x="8138160" y="2880360"/>
            <a:ext cx="3977639" cy="731520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Multiple VMs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12B36"/>
                </a:solidFill>
                <a:latin typeface="Calibri"/>
              </a:rPr>
              <a:t>•  Physical Machine  =  real hardware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12B36"/>
                </a:solidFill>
                <a:latin typeface="Calibri"/>
              </a:rPr>
              <a:t>•  Hypervisor  =  divides hardware resources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12B36"/>
                </a:solidFill>
                <a:latin typeface="Calibri"/>
              </a:rPr>
              <a:t>•  VM  =  independent virtual computer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12B36"/>
                </a:solidFill>
                <a:latin typeface="Calibri"/>
              </a:rPr>
              <a:t>•  Each VM has its own Guest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532120"/>
            <a:ext cx="9235440" cy="914400"/>
          </a:xfrm>
          <a:prstGeom prst="roundRect">
            <a:avLst/>
          </a:prstGeom>
          <a:solidFill>
            <a:srgbClr val="E8F1FF"/>
          </a:solidFill>
          <a:ln w="15875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50" b="1">
                <a:solidFill>
                  <a:srgbClr val="0B214A"/>
                </a:solidFill>
                <a:latin typeface="Calibri"/>
              </a:rPr>
              <a:t>One-line version:  "Virtualization allows one physical machine to run multiple isolated virtual machines using a hypervisor."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Virtualization — One Machine, Many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0248" y="960120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0B214A"/>
                </a:solidFill>
                <a:latin typeface="Calibri"/>
              </a:rPr>
              <a:t>Physical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371600"/>
            <a:ext cx="3657600" cy="7315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CPU  ·  Memory  · 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248" y="2240280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1">
                <a:solidFill>
                  <a:srgbClr val="212B36"/>
                </a:solidFill>
                <a:latin typeface="Calibri"/>
              </a:rPr>
              <a:t>▼  divides into  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834640"/>
            <a:ext cx="2743200" cy="1188720"/>
          </a:xfrm>
          <a:prstGeom prst="round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Env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834640"/>
            <a:ext cx="2743200" cy="11887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Env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834640"/>
            <a:ext cx="2743200" cy="11887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Env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109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1">
                <a:solidFill>
                  <a:srgbClr val="212B36"/>
                </a:solidFill>
                <a:latin typeface="Calibri"/>
              </a:rPr>
              <a:t>Each environment believes it has the whole machine to itself.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8 — Virtual Machine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09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2B36"/>
                </a:solidFill>
                <a:latin typeface="Calibri"/>
              </a:rPr>
              <a:t>A VM virtualizes the hardware itself — so every VM carries its own complete, independent operating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109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1">
                <a:solidFill>
                  <a:srgbClr val="212B36"/>
                </a:solidFill>
                <a:latin typeface="Calibri"/>
              </a:rPr>
              <a:t>Each VM ships a FULL guest operating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965960"/>
            <a:ext cx="3017520" cy="9601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VM 1</a:t>
            </a:r>
          </a:p>
          <a:p>
            <a:pPr algn="ctr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Guest OS +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965960"/>
            <a:ext cx="3017520" cy="9601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VM 2</a:t>
            </a:r>
          </a:p>
          <a:p>
            <a:pPr algn="ctr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Guest OS +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65960"/>
            <a:ext cx="3017520" cy="9601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VM 3</a:t>
            </a:r>
          </a:p>
          <a:p>
            <a:pPr algn="ctr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Guest OS +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Hypervisor  (e.g. VMware, VirtualBox)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Host Operating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Physical Hardware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Containers skip the Guest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09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2B36"/>
                </a:solidFill>
                <a:latin typeface="Calibri"/>
              </a:rPr>
              <a:t>Containers skip the guest OS entirely — they share the host kernel directly through a container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109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1">
                <a:solidFill>
                  <a:srgbClr val="212B36"/>
                </a:solidFill>
                <a:latin typeface="Calibri"/>
              </a:rPr>
              <a:t>No guest OS needed — containers share the SAME kernel, so more apps fit in the same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965960"/>
            <a:ext cx="2240280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965960"/>
            <a:ext cx="2240280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2240280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965960"/>
            <a:ext cx="2240280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17520"/>
            <a:ext cx="105156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Container Engine  (e.g. Docker)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10515600" cy="502920"/>
          </a:xfrm>
          <a:prstGeom prst="rect">
            <a:avLst/>
          </a:prstGeom>
          <a:solidFill>
            <a:srgbClr val="17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Host Operating System (Kernel)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10515600" cy="502920"/>
          </a:xfrm>
          <a:prstGeom prst="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Physical Hardware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01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D93025"/>
                </a:solidFill>
                <a:latin typeface="Calibri"/>
              </a:rPr>
              <a:t>Virtual Machine  vs  Container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5120640" cy="4846320"/>
          </a:xfrm>
          <a:prstGeom prst="roundRect">
            <a:avLst/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Virtual Machine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Virtualizes hardware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Full guest OS per instance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Strong isolation boundary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Gigabytes in size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Boots in ~1–2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120640" cy="4846320"/>
          </a:xfrm>
          <a:prstGeom prst="round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Container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Virtualizes the OS layer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Shares the host kernel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Lightweight isolation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Megabytes in size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Boots in ~seconds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